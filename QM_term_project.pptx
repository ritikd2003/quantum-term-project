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ISER-K_Logo.png" descr="IISER-K_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52870" y="341976"/>
            <a:ext cx="3135090" cy="3292648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rm Project - PH3203"/>
          <p:cNvSpPr txBox="1"/>
          <p:nvPr/>
        </p:nvSpPr>
        <p:spPr>
          <a:xfrm>
            <a:off x="10665545" y="4154337"/>
            <a:ext cx="4110749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/>
            </a:lvl1pPr>
          </a:lstStyle>
          <a:p>
            <a:pPr/>
            <a:r>
              <a:t>Term Project - PH3203</a:t>
            </a:r>
          </a:p>
        </p:txBody>
      </p:sp>
      <p:sp>
        <p:nvSpPr>
          <p:cNvPr id="173" name="By —…"/>
          <p:cNvSpPr txBox="1"/>
          <p:nvPr/>
        </p:nvSpPr>
        <p:spPr>
          <a:xfrm>
            <a:off x="10121075" y="5938266"/>
            <a:ext cx="4538029" cy="1839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20000"/>
              </a:lnSpc>
              <a:spcBef>
                <a:spcPts val="0"/>
              </a:spcBef>
              <a:defRPr sz="2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By —</a:t>
            </a:r>
          </a:p>
          <a:p>
            <a:pPr algn="ctr" defTabSz="825500">
              <a:lnSpc>
                <a:spcPct val="120000"/>
              </a:lnSpc>
              <a:spcBef>
                <a:spcPts val="0"/>
              </a:spcBef>
              <a:defRPr sz="2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Ritik Dubey (22MS208)</a:t>
            </a:r>
          </a:p>
          <a:p>
            <a:pPr algn="ctr" defTabSz="825500">
              <a:lnSpc>
                <a:spcPct val="120000"/>
              </a:lnSpc>
              <a:spcBef>
                <a:spcPts val="0"/>
              </a:spcBef>
              <a:defRPr sz="2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Ankit kumar (22MS211)</a:t>
            </a:r>
          </a:p>
          <a:p>
            <a:pPr algn="ctr" defTabSz="825500">
              <a:lnSpc>
                <a:spcPct val="120000"/>
              </a:lnSpc>
              <a:spcBef>
                <a:spcPts val="0"/>
              </a:spcBef>
              <a:defRPr sz="2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Raj Gaurav Tripathi (22MS215)</a:t>
            </a:r>
          </a:p>
        </p:txBody>
      </p:sp>
      <p:sp>
        <p:nvSpPr>
          <p:cNvPr id="174" name="Delayed Choice Quantum Eraser…"/>
          <p:cNvSpPr txBox="1"/>
          <p:nvPr/>
        </p:nvSpPr>
        <p:spPr>
          <a:xfrm>
            <a:off x="7221326" y="9574239"/>
            <a:ext cx="10798176" cy="1678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defRPr spc="-119" sz="6000"/>
            </a:pPr>
            <a:r>
              <a:t>Delayed Choice Quantum Eraser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defRPr spc="-66" sz="3300"/>
            </a:pPr>
            <a:r>
              <a:t>(Kim et al. 1999)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Motivation…"/>
          <p:cNvGrpSpPr/>
          <p:nvPr/>
        </p:nvGrpSpPr>
        <p:grpSpPr>
          <a:xfrm>
            <a:off x="1296288" y="2164801"/>
            <a:ext cx="7402657" cy="2678573"/>
            <a:chOff x="0" y="0"/>
            <a:chExt cx="7402656" cy="2678571"/>
          </a:xfrm>
        </p:grpSpPr>
        <p:sp>
          <p:nvSpPr>
            <p:cNvPr id="176" name="Rounded Rectangle"/>
            <p:cNvSpPr/>
            <p:nvPr/>
          </p:nvSpPr>
          <p:spPr>
            <a:xfrm>
              <a:off x="0" y="0"/>
              <a:ext cx="7402657" cy="2678572"/>
            </a:xfrm>
            <a:prstGeom prst="roundRect">
              <a:avLst>
                <a:gd name="adj" fmla="val 12336"/>
              </a:avLst>
            </a:prstGeom>
            <a:solidFill>
              <a:srgbClr val="FF968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</a:p>
          </p:txBody>
        </p:sp>
        <p:sp>
          <p:nvSpPr>
            <p:cNvPr id="177" name="Motivation…"/>
            <p:cNvSpPr txBox="1"/>
            <p:nvPr/>
          </p:nvSpPr>
          <p:spPr>
            <a:xfrm>
              <a:off x="96779" y="349320"/>
              <a:ext cx="7209098" cy="1979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  <a:r>
                <a:t>Motivation</a:t>
              </a:r>
            </a:p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  <a:r>
                <a:t>Experimental Setup</a:t>
              </a:r>
            </a:p>
          </p:txBody>
        </p:sp>
      </p:grpSp>
      <p:grpSp>
        <p:nvGrpSpPr>
          <p:cNvPr id="181" name="Calculation"/>
          <p:cNvGrpSpPr/>
          <p:nvPr/>
        </p:nvGrpSpPr>
        <p:grpSpPr>
          <a:xfrm>
            <a:off x="1296288" y="5756607"/>
            <a:ext cx="7402657" cy="2202785"/>
            <a:chOff x="0" y="0"/>
            <a:chExt cx="7402656" cy="2202783"/>
          </a:xfrm>
        </p:grpSpPr>
        <p:sp>
          <p:nvSpPr>
            <p:cNvPr id="179" name="Rounded Rectangle"/>
            <p:cNvSpPr/>
            <p:nvPr/>
          </p:nvSpPr>
          <p:spPr>
            <a:xfrm>
              <a:off x="0" y="0"/>
              <a:ext cx="7402657" cy="2202784"/>
            </a:xfrm>
            <a:prstGeom prst="roundRect">
              <a:avLst>
                <a:gd name="adj" fmla="val 15000"/>
              </a:avLst>
            </a:prstGeom>
            <a:solidFill>
              <a:srgbClr val="FF968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</a:p>
          </p:txBody>
        </p:sp>
        <p:sp>
          <p:nvSpPr>
            <p:cNvPr id="180" name="Calculation"/>
            <p:cNvSpPr txBox="1"/>
            <p:nvPr/>
          </p:nvSpPr>
          <p:spPr>
            <a:xfrm>
              <a:off x="96775" y="678481"/>
              <a:ext cx="7209106" cy="845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825500">
                <a:lnSpc>
                  <a:spcPct val="150000"/>
                </a:lnSpc>
                <a:spcBef>
                  <a:spcPts val="0"/>
                </a:spcBef>
                <a:defRPr sz="5000"/>
              </a:lvl1pPr>
            </a:lstStyle>
            <a:p>
              <a:pPr/>
              <a:r>
                <a:t>Calculation</a:t>
              </a:r>
            </a:p>
          </p:txBody>
        </p:sp>
      </p:grpSp>
      <p:grpSp>
        <p:nvGrpSpPr>
          <p:cNvPr id="184" name="Results…"/>
          <p:cNvGrpSpPr/>
          <p:nvPr/>
        </p:nvGrpSpPr>
        <p:grpSpPr>
          <a:xfrm>
            <a:off x="1296288" y="8872625"/>
            <a:ext cx="7402657" cy="2678573"/>
            <a:chOff x="0" y="0"/>
            <a:chExt cx="7402656" cy="2678571"/>
          </a:xfrm>
        </p:grpSpPr>
        <p:sp>
          <p:nvSpPr>
            <p:cNvPr id="182" name="Rounded Rectangle"/>
            <p:cNvSpPr/>
            <p:nvPr/>
          </p:nvSpPr>
          <p:spPr>
            <a:xfrm>
              <a:off x="0" y="0"/>
              <a:ext cx="7402657" cy="2678572"/>
            </a:xfrm>
            <a:prstGeom prst="roundRect">
              <a:avLst>
                <a:gd name="adj" fmla="val 12336"/>
              </a:avLst>
            </a:prstGeom>
            <a:solidFill>
              <a:srgbClr val="FF968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</a:p>
          </p:txBody>
        </p:sp>
        <p:sp>
          <p:nvSpPr>
            <p:cNvPr id="183" name="Results…"/>
            <p:cNvSpPr txBox="1"/>
            <p:nvPr/>
          </p:nvSpPr>
          <p:spPr>
            <a:xfrm>
              <a:off x="96779" y="349320"/>
              <a:ext cx="7209098" cy="1979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  <a:r>
                <a:t>Results</a:t>
              </a:r>
            </a:p>
            <a:p>
              <a:pPr defTabSz="825500">
                <a:lnSpc>
                  <a:spcPct val="150000"/>
                </a:lnSpc>
                <a:spcBef>
                  <a:spcPts val="0"/>
                </a:spcBef>
                <a:defRPr sz="5000"/>
              </a:pPr>
              <a:r>
                <a:t>Conclusion</a:t>
              </a:r>
            </a:p>
          </p:txBody>
        </p:sp>
      </p:grpSp>
      <p:pic>
        <p:nvPicPr>
          <p:cNvPr id="185" name="Flow Flow" descr="Flow Flow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39844" y="319092"/>
            <a:ext cx="3993522" cy="195559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Motivation"/>
          <p:cNvGrpSpPr/>
          <p:nvPr/>
        </p:nvGrpSpPr>
        <p:grpSpPr>
          <a:xfrm>
            <a:off x="7720423" y="402881"/>
            <a:ext cx="8943155" cy="1526892"/>
            <a:chOff x="0" y="0"/>
            <a:chExt cx="8943153" cy="1526890"/>
          </a:xfrm>
        </p:grpSpPr>
        <p:grpSp>
          <p:nvGrpSpPr>
            <p:cNvPr id="189" name="Motivation"/>
            <p:cNvGrpSpPr/>
            <p:nvPr/>
          </p:nvGrpSpPr>
          <p:grpSpPr>
            <a:xfrm>
              <a:off x="38100" y="38100"/>
              <a:ext cx="8866953" cy="1450690"/>
              <a:chOff x="0" y="0"/>
              <a:chExt cx="8866952" cy="1450689"/>
            </a:xfrm>
          </p:grpSpPr>
          <p:sp>
            <p:nvSpPr>
              <p:cNvPr id="187" name="Rounded Rectangle"/>
              <p:cNvSpPr/>
              <p:nvPr/>
            </p:nvSpPr>
            <p:spPr>
              <a:xfrm>
                <a:off x="0" y="0"/>
                <a:ext cx="8866953" cy="1450690"/>
              </a:xfrm>
              <a:prstGeom prst="roundRect">
                <a:avLst>
                  <a:gd name="adj" fmla="val 26838"/>
                </a:avLst>
              </a:prstGeom>
              <a:solidFill>
                <a:srgbClr val="72FD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defRPr spc="-119" sz="6000"/>
                </a:pPr>
              </a:p>
            </p:txBody>
          </p:sp>
          <p:sp>
            <p:nvSpPr>
              <p:cNvPr id="188" name="Motivation"/>
              <p:cNvSpPr txBox="1"/>
              <p:nvPr/>
            </p:nvSpPr>
            <p:spPr>
              <a:xfrm>
                <a:off x="114033" y="228012"/>
                <a:ext cx="8638887" cy="99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ts val="0"/>
                  </a:spcBef>
                  <a:defRPr spc="-119" sz="6000"/>
                </a:lvl1pPr>
              </a:lstStyle>
              <a:p>
                <a:pPr/>
                <a:r>
                  <a:t>Motivation</a:t>
                </a:r>
              </a:p>
            </p:txBody>
          </p:sp>
        </p:grpSp>
        <p:pic>
          <p:nvPicPr>
            <p:cNvPr id="190" name="Motivation Motivation" descr="Motivation Motivation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-1"/>
              <a:ext cx="8943155" cy="15268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2" name="N. Bohr(1920s) —&gt; wave &amp; particle behaviour can’t be observed in the same setup.…"/>
          <p:cNvSpPr txBox="1"/>
          <p:nvPr/>
        </p:nvSpPr>
        <p:spPr>
          <a:xfrm>
            <a:off x="1066596" y="3358186"/>
            <a:ext cx="22263507" cy="572000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indent="457200"/>
            <a:r>
              <a:t>N. Bohr</a:t>
            </a:r>
            <a:r>
              <a:rPr sz="3100"/>
              <a:t>(1920s) —</a:t>
            </a:r>
            <a:r>
              <a:t>&gt; wave &amp; particle behaviour can’t be observed in the same setup.</a:t>
            </a:r>
          </a:p>
          <a:p>
            <a:pPr/>
            <a:r>
              <a:t>   Scully &amp; Druhl</a:t>
            </a:r>
            <a:r>
              <a:rPr sz="3100"/>
              <a:t>(1982)</a:t>
            </a:r>
            <a:r>
              <a:t>—&gt; using entangled photons they proved this wrong.</a:t>
            </a:r>
          </a:p>
          <a:p>
            <a:pPr/>
            <a:r>
              <a:t>   Kim et al.</a:t>
            </a:r>
            <a:r>
              <a:rPr sz="3100"/>
              <a:t>(1999)</a:t>
            </a:r>
            <a:r>
              <a:t>—&gt; Experimental realisation of Scully’s proposal</a:t>
            </a:r>
          </a:p>
          <a:p>
            <a:pPr lvl="8" indent="3657600"/>
            <a:r>
              <a:t>                                      +</a:t>
            </a:r>
          </a:p>
          <a:p>
            <a:pPr lvl="8" indent="3657600"/>
            <a:r>
              <a:t>          Modifying further by introducing delayed choice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The Experimental Setup"/>
          <p:cNvGrpSpPr/>
          <p:nvPr/>
        </p:nvGrpSpPr>
        <p:grpSpPr>
          <a:xfrm>
            <a:off x="6719095" y="308095"/>
            <a:ext cx="10945811" cy="1641671"/>
            <a:chOff x="0" y="0"/>
            <a:chExt cx="10945809" cy="1641670"/>
          </a:xfrm>
        </p:grpSpPr>
        <p:grpSp>
          <p:nvGrpSpPr>
            <p:cNvPr id="196" name="The Experimental Setup"/>
            <p:cNvGrpSpPr/>
            <p:nvPr/>
          </p:nvGrpSpPr>
          <p:grpSpPr>
            <a:xfrm>
              <a:off x="38099" y="38100"/>
              <a:ext cx="10869611" cy="1565471"/>
              <a:chOff x="0" y="0"/>
              <a:chExt cx="10869609" cy="1565470"/>
            </a:xfrm>
          </p:grpSpPr>
          <p:sp>
            <p:nvSpPr>
              <p:cNvPr id="194" name="Rounded Rectangle"/>
              <p:cNvSpPr/>
              <p:nvPr/>
            </p:nvSpPr>
            <p:spPr>
              <a:xfrm>
                <a:off x="0" y="0"/>
                <a:ext cx="10869610" cy="1565471"/>
              </a:xfrm>
              <a:prstGeom prst="roundRect">
                <a:avLst>
                  <a:gd name="adj" fmla="val 21218"/>
                </a:avLst>
              </a:prstGeom>
              <a:solidFill>
                <a:srgbClr val="72FD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indent="457200" algn="ctr" defTabSz="825500">
                  <a:lnSpc>
                    <a:spcPct val="100000"/>
                  </a:lnSpc>
                  <a:spcBef>
                    <a:spcPts val="0"/>
                  </a:spcBef>
                  <a:defRPr sz="60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95" name="The Experimental Setup"/>
              <p:cNvSpPr txBox="1"/>
              <p:nvPr/>
            </p:nvSpPr>
            <p:spPr>
              <a:xfrm>
                <a:off x="97286" y="273086"/>
                <a:ext cx="10675037" cy="10192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lvl="1" indent="457200" algn="ctr" defTabSz="825500">
                  <a:lnSpc>
                    <a:spcPct val="100000"/>
                  </a:lnSpc>
                  <a:spcBef>
                    <a:spcPts val="0"/>
                  </a:spcBef>
                  <a:defRPr sz="60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r>
                  <a:t>The Experimental Setup</a:t>
                </a:r>
              </a:p>
            </p:txBody>
          </p:sp>
        </p:grpSp>
        <p:pic>
          <p:nvPicPr>
            <p:cNvPr id="197" name="The Experimental Setup The Experimental Setup" descr="The Experimental Setup The Experimental Setup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0945811" cy="16416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99" name="Screenshot 2025-05-03 at 12.03.25 AM.png" descr="Screenshot 2025-05-03 at 12.03.2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72852" y="2464442"/>
            <a:ext cx="14486445" cy="10825532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351 nm pump…"/>
          <p:cNvSpPr txBox="1"/>
          <p:nvPr/>
        </p:nvSpPr>
        <p:spPr>
          <a:xfrm>
            <a:off x="1943902" y="5644429"/>
            <a:ext cx="2487169" cy="100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pPr>
            <a:r>
              <a:t>351 nm pump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pPr>
            <a:r>
              <a:t>photon beam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Calculation"/>
          <p:cNvGrpSpPr/>
          <p:nvPr/>
        </p:nvGrpSpPr>
        <p:grpSpPr>
          <a:xfrm>
            <a:off x="8690140" y="450276"/>
            <a:ext cx="7003721" cy="2094503"/>
            <a:chOff x="0" y="0"/>
            <a:chExt cx="7003719" cy="2094501"/>
          </a:xfrm>
        </p:grpSpPr>
        <p:grpSp>
          <p:nvGrpSpPr>
            <p:cNvPr id="204" name="Calculation"/>
            <p:cNvGrpSpPr/>
            <p:nvPr/>
          </p:nvGrpSpPr>
          <p:grpSpPr>
            <a:xfrm>
              <a:off x="38100" y="38100"/>
              <a:ext cx="6927520" cy="2018303"/>
              <a:chOff x="0" y="0"/>
              <a:chExt cx="6927519" cy="2018301"/>
            </a:xfrm>
          </p:grpSpPr>
          <p:sp>
            <p:nvSpPr>
              <p:cNvPr id="202" name="Rounded Rectangle"/>
              <p:cNvSpPr/>
              <p:nvPr/>
            </p:nvSpPr>
            <p:spPr>
              <a:xfrm>
                <a:off x="0" y="0"/>
                <a:ext cx="6927520" cy="2018302"/>
              </a:xfrm>
              <a:prstGeom prst="roundRect">
                <a:avLst>
                  <a:gd name="adj" fmla="val 22184"/>
                </a:avLst>
              </a:prstGeom>
              <a:solidFill>
                <a:srgbClr val="72FD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60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203" name="Calculation"/>
              <p:cNvSpPr txBox="1"/>
              <p:nvPr/>
            </p:nvSpPr>
            <p:spPr>
              <a:xfrm>
                <a:off x="131138" y="499502"/>
                <a:ext cx="6665243" cy="10192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60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Calculation</a:t>
                </a:r>
              </a:p>
            </p:txBody>
          </p:sp>
        </p:grpSp>
        <p:pic>
          <p:nvPicPr>
            <p:cNvPr id="205" name="Calculation Calculation" descr="Calculation Calculation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7003720" cy="20945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07" name="Screenshot 2025-05-03 at 3.32.15 AM.png" descr="Screenshot 2025-05-03 at 3.32.1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23279" y="3326924"/>
            <a:ext cx="9533520" cy="2177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Screenshot 2025-05-03 at 12.03.25 AM.png" descr="Screenshot 2025-05-03 at 12.03.25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42128" y="2820766"/>
            <a:ext cx="10710557" cy="807446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  <p:pic>
        <p:nvPicPr>
          <p:cNvPr id="209" name="Screenshot 2025-05-03 at 3.33.00 AM.png" descr="Screenshot 2025-05-03 at 3.33.00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06665" y="5567650"/>
            <a:ext cx="7685739" cy="21073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Screenshot 2025-05-03 at 3.33.32 AM.png" descr="Screenshot 2025-05-03 at 3.33.32 A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81861" y="8046391"/>
            <a:ext cx="11414126" cy="39661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Screenshot 2025-05-03 at 3.34.47 AM.png" descr="Screenshot 2025-05-03 at 3.34.4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8440" y="702239"/>
            <a:ext cx="8392177" cy="15657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Screenshot 2025-05-03 at 3.35.58 AM.png" descr="Screenshot 2025-05-03 at 3.35.58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5267" y="2477886"/>
            <a:ext cx="9664050" cy="63001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Screenshot 2025-05-03 at 3.37.08 AM.png" descr="Screenshot 2025-05-03 at 3.37.08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6847" y="8776372"/>
            <a:ext cx="10650119" cy="42633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Screenshot 2025-05-03 at 12.03.25 AM.png" descr="Screenshot 2025-05-03 at 12.03.25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242128" y="2820766"/>
            <a:ext cx="10710557" cy="807446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Screenshot 2025-05-03 at 3.42.58 AM.png" descr="Screenshot 2025-05-03 at 3.42.5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0519" y="7008384"/>
            <a:ext cx="8921189" cy="6603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Screenshot 2025-05-03 at 3.44.26 AM.png" descr="Screenshot 2025-05-03 at 3.44.2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9361" y="7000202"/>
            <a:ext cx="8921190" cy="66196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Screenshot 2025-05-03 at 12.03.25 AM.png" descr="Screenshot 2025-05-03 at 12.03.25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895330" y="-49026"/>
            <a:ext cx="7514810" cy="5615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009875" y="4481740"/>
            <a:ext cx="6537464" cy="1245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890099" y="5726579"/>
            <a:ext cx="8862331" cy="12700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3252" y="920581"/>
            <a:ext cx="9564473" cy="54894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9569" y="757145"/>
            <a:ext cx="10520979" cy="38477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4876" y="5205243"/>
            <a:ext cx="7148711" cy="1224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250624" y="970789"/>
            <a:ext cx="10273830" cy="9033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Screenshot 2025-05-03 at 12.03.25 AM.png" descr="Screenshot 2025-05-03 at 12.03.25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00622" y="6889928"/>
            <a:ext cx="8436355" cy="637498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  <p:pic>
        <p:nvPicPr>
          <p:cNvPr id="228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250624" y="10225082"/>
            <a:ext cx="10273830" cy="14461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Results"/>
          <p:cNvGrpSpPr/>
          <p:nvPr/>
        </p:nvGrpSpPr>
        <p:grpSpPr>
          <a:xfrm>
            <a:off x="9447244" y="606860"/>
            <a:ext cx="5648448" cy="1957485"/>
            <a:chOff x="0" y="0"/>
            <a:chExt cx="5648447" cy="1957484"/>
          </a:xfrm>
        </p:grpSpPr>
        <p:sp>
          <p:nvSpPr>
            <p:cNvPr id="230" name="Rounded Rectangle"/>
            <p:cNvSpPr/>
            <p:nvPr/>
          </p:nvSpPr>
          <p:spPr>
            <a:xfrm>
              <a:off x="0" y="0"/>
              <a:ext cx="5648448" cy="1957485"/>
            </a:xfrm>
            <a:prstGeom prst="roundRect">
              <a:avLst>
                <a:gd name="adj" fmla="val 19132"/>
              </a:avLst>
            </a:prstGeom>
            <a:solidFill>
              <a:srgbClr val="72FDE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60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31" name="Results"/>
            <p:cNvSpPr txBox="1"/>
            <p:nvPr/>
          </p:nvSpPr>
          <p:spPr>
            <a:xfrm>
              <a:off x="109688" y="469094"/>
              <a:ext cx="5429070" cy="10192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60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Results</a:t>
              </a:r>
            </a:p>
          </p:txBody>
        </p:sp>
      </p:grpSp>
      <p:pic>
        <p:nvPicPr>
          <p:cNvPr id="233" name="fig2.png" descr="fig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8648" y="2950928"/>
            <a:ext cx="14146704" cy="1039687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fig3.png" descr="fig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4805" y="1885761"/>
            <a:ext cx="11678879" cy="854071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  <p:pic>
        <p:nvPicPr>
          <p:cNvPr id="236" name="fig4.png" descr="fig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25274" y="2035532"/>
            <a:ext cx="11378725" cy="824117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Conclusion"/>
          <p:cNvGrpSpPr/>
          <p:nvPr/>
        </p:nvGrpSpPr>
        <p:grpSpPr>
          <a:xfrm>
            <a:off x="8995802" y="583162"/>
            <a:ext cx="6392396" cy="1903243"/>
            <a:chOff x="0" y="0"/>
            <a:chExt cx="6392395" cy="1903241"/>
          </a:xfrm>
        </p:grpSpPr>
        <p:sp>
          <p:nvSpPr>
            <p:cNvPr id="238" name="Rounded Rectangle"/>
            <p:cNvSpPr/>
            <p:nvPr/>
          </p:nvSpPr>
          <p:spPr>
            <a:xfrm>
              <a:off x="0" y="0"/>
              <a:ext cx="6392396" cy="1903242"/>
            </a:xfrm>
            <a:prstGeom prst="roundRect">
              <a:avLst>
                <a:gd name="adj" fmla="val 15000"/>
              </a:avLst>
            </a:prstGeom>
            <a:solidFill>
              <a:srgbClr val="FF968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60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39" name="Conclusion"/>
            <p:cNvSpPr txBox="1"/>
            <p:nvPr/>
          </p:nvSpPr>
          <p:spPr>
            <a:xfrm>
              <a:off x="83615" y="441972"/>
              <a:ext cx="6225166" cy="10192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60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Conclusion</a:t>
              </a:r>
            </a:p>
          </p:txBody>
        </p:sp>
      </p:grpSp>
      <p:sp>
        <p:nvSpPr>
          <p:cNvPr id="241" name="The experimental results demonstrate the possibility of determining particle-like and wave-like behaviours of a photon via quantum entanglement."/>
          <p:cNvSpPr txBox="1"/>
          <p:nvPr/>
        </p:nvSpPr>
        <p:spPr>
          <a:xfrm>
            <a:off x="2737246" y="3581195"/>
            <a:ext cx="18909508" cy="14351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3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The experimental results demonstrate the possibility of determining particle-like and wave-like behaviours of a photon via quantum entanglement.</a:t>
            </a:r>
          </a:p>
        </p:txBody>
      </p:sp>
      <p:pic>
        <p:nvPicPr>
          <p:cNvPr id="24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06928" y="6403128"/>
            <a:ext cx="12138107" cy="183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