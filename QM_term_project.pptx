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 and houmo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Bowl of pappardelle pasta with parsley butter, roasted hazelnuts and shaved parmesan cheese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72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2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9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10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1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10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11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3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owl of salad with fried rice, boiled eggs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" name="Bowl with salmon cakes, salad and houmo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6" name="Bowl of pappardelle pasta with parsley butter, roasted hazelnuts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owl of salad with fried rice, boiled eggs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9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IISER-K_Logo.png" descr="IISER-K_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052870" y="341976"/>
            <a:ext cx="3135089" cy="3292647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Term Project - PH3203"/>
          <p:cNvSpPr txBox="1"/>
          <p:nvPr/>
        </p:nvSpPr>
        <p:spPr>
          <a:xfrm>
            <a:off x="10665545" y="4154338"/>
            <a:ext cx="4110749" cy="573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100"/>
            </a:lvl1pPr>
          </a:lstStyle>
          <a:p>
            <a:pPr/>
            <a:r>
              <a:t>Term Project - PH3203</a:t>
            </a:r>
          </a:p>
        </p:txBody>
      </p:sp>
      <p:sp>
        <p:nvSpPr>
          <p:cNvPr id="173" name="By —…"/>
          <p:cNvSpPr txBox="1"/>
          <p:nvPr/>
        </p:nvSpPr>
        <p:spPr>
          <a:xfrm>
            <a:off x="10121076" y="5938267"/>
            <a:ext cx="4538029" cy="1839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 defTabSz="825500">
              <a:lnSpc>
                <a:spcPct val="120000"/>
              </a:lnSpc>
              <a:spcBef>
                <a:spcPts val="0"/>
              </a:spcBef>
              <a:defRPr sz="2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By —</a:t>
            </a:r>
          </a:p>
          <a:p>
            <a:pPr algn="ctr" defTabSz="825500">
              <a:lnSpc>
                <a:spcPct val="120000"/>
              </a:lnSpc>
              <a:spcBef>
                <a:spcPts val="0"/>
              </a:spcBef>
              <a:defRPr sz="2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Ritik Dubey (22MS208)</a:t>
            </a:r>
          </a:p>
          <a:p>
            <a:pPr algn="ctr" defTabSz="825500">
              <a:lnSpc>
                <a:spcPct val="120000"/>
              </a:lnSpc>
              <a:spcBef>
                <a:spcPts val="0"/>
              </a:spcBef>
              <a:defRPr sz="2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Ankit kumar (22MS211)</a:t>
            </a:r>
          </a:p>
          <a:p>
            <a:pPr algn="ctr" defTabSz="825500">
              <a:lnSpc>
                <a:spcPct val="120000"/>
              </a:lnSpc>
              <a:spcBef>
                <a:spcPts val="0"/>
              </a:spcBef>
              <a:defRPr sz="2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Raj Gaurav Tripathi (22MS215)</a:t>
            </a:r>
          </a:p>
        </p:txBody>
      </p:sp>
      <p:sp>
        <p:nvSpPr>
          <p:cNvPr id="174" name="Delayed Choice Quantum Eraser…"/>
          <p:cNvSpPr txBox="1"/>
          <p:nvPr/>
        </p:nvSpPr>
        <p:spPr>
          <a:xfrm>
            <a:off x="7223168" y="9574239"/>
            <a:ext cx="10794493" cy="1678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defRPr spc="-119" sz="6000"/>
            </a:pPr>
            <a:r>
              <a:t>Delayed Choice Quantum Eraser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defRPr spc="-66" sz="3300"/>
            </a:pPr>
            <a:r>
              <a:t>(Kim et al. 1999)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Motivation…"/>
          <p:cNvSpPr/>
          <p:nvPr/>
        </p:nvSpPr>
        <p:spPr>
          <a:xfrm>
            <a:off x="1296288" y="2164802"/>
            <a:ext cx="7402657" cy="2678572"/>
          </a:xfrm>
          <a:prstGeom prst="roundRect">
            <a:avLst>
              <a:gd name="adj" fmla="val 12336"/>
            </a:avLst>
          </a:prstGeom>
          <a:solidFill>
            <a:schemeClr val="accent5">
              <a:hueOff val="-152895"/>
              <a:lumOff val="12368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lnSpc>
                <a:spcPct val="150000"/>
              </a:lnSpc>
              <a:spcBef>
                <a:spcPts val="0"/>
              </a:spcBef>
              <a:defRPr sz="5000"/>
            </a:pPr>
            <a:r>
              <a:t>Motivation</a:t>
            </a:r>
          </a:p>
          <a:p>
            <a:pPr defTabSz="825500">
              <a:lnSpc>
                <a:spcPct val="150000"/>
              </a:lnSpc>
              <a:spcBef>
                <a:spcPts val="0"/>
              </a:spcBef>
              <a:defRPr sz="5000"/>
            </a:pPr>
            <a:r>
              <a:t>Experimental Setup</a:t>
            </a:r>
          </a:p>
        </p:txBody>
      </p:sp>
      <p:sp>
        <p:nvSpPr>
          <p:cNvPr id="177" name="Calculation"/>
          <p:cNvSpPr/>
          <p:nvPr/>
        </p:nvSpPr>
        <p:spPr>
          <a:xfrm>
            <a:off x="1296288" y="5756608"/>
            <a:ext cx="7402657" cy="2202784"/>
          </a:xfrm>
          <a:prstGeom prst="roundRect">
            <a:avLst>
              <a:gd name="adj" fmla="val 15000"/>
            </a:avLst>
          </a:prstGeom>
          <a:solidFill>
            <a:schemeClr val="accent5">
              <a:hueOff val="-152895"/>
              <a:lumOff val="12368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lnSpc>
                <a:spcPct val="150000"/>
              </a:lnSpc>
              <a:spcBef>
                <a:spcPts val="0"/>
              </a:spcBef>
              <a:defRPr sz="5000"/>
            </a:lvl1pPr>
          </a:lstStyle>
          <a:p>
            <a:pPr/>
            <a:r>
              <a:t>Calculation</a:t>
            </a:r>
          </a:p>
        </p:txBody>
      </p:sp>
      <p:sp>
        <p:nvSpPr>
          <p:cNvPr id="178" name="Results…"/>
          <p:cNvSpPr/>
          <p:nvPr/>
        </p:nvSpPr>
        <p:spPr>
          <a:xfrm>
            <a:off x="1296288" y="8872626"/>
            <a:ext cx="7402657" cy="2678572"/>
          </a:xfrm>
          <a:prstGeom prst="roundRect">
            <a:avLst>
              <a:gd name="adj" fmla="val 12336"/>
            </a:avLst>
          </a:prstGeom>
          <a:solidFill>
            <a:schemeClr val="accent5">
              <a:hueOff val="-152895"/>
              <a:lumOff val="12368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lnSpc>
                <a:spcPct val="150000"/>
              </a:lnSpc>
              <a:spcBef>
                <a:spcPts val="0"/>
              </a:spcBef>
              <a:defRPr sz="5000"/>
            </a:pPr>
            <a:r>
              <a:t>Results</a:t>
            </a:r>
          </a:p>
          <a:p>
            <a:pPr defTabSz="825500">
              <a:lnSpc>
                <a:spcPct val="150000"/>
              </a:lnSpc>
              <a:spcBef>
                <a:spcPts val="0"/>
              </a:spcBef>
              <a:defRPr sz="5000"/>
            </a:pPr>
            <a:r>
              <a:t>Conclusion</a:t>
            </a:r>
          </a:p>
        </p:txBody>
      </p:sp>
      <p:sp>
        <p:nvSpPr>
          <p:cNvPr id="179" name="Line"/>
          <p:cNvSpPr/>
          <p:nvPr/>
        </p:nvSpPr>
        <p:spPr>
          <a:xfrm>
            <a:off x="9361158" y="3585495"/>
            <a:ext cx="198768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80" name="Me"/>
          <p:cNvSpPr txBox="1"/>
          <p:nvPr/>
        </p:nvSpPr>
        <p:spPr>
          <a:xfrm>
            <a:off x="12011058" y="3181279"/>
            <a:ext cx="972618" cy="808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Me</a:t>
            </a:r>
          </a:p>
        </p:txBody>
      </p:sp>
      <p:sp>
        <p:nvSpPr>
          <p:cNvPr id="181" name="Line"/>
          <p:cNvSpPr/>
          <p:nvPr/>
        </p:nvSpPr>
        <p:spPr>
          <a:xfrm>
            <a:off x="9361158" y="6898703"/>
            <a:ext cx="198768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82" name="Line"/>
          <p:cNvSpPr/>
          <p:nvPr/>
        </p:nvSpPr>
        <p:spPr>
          <a:xfrm>
            <a:off x="9488158" y="10211912"/>
            <a:ext cx="198768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83" name="Raj"/>
          <p:cNvSpPr txBox="1"/>
          <p:nvPr/>
        </p:nvSpPr>
        <p:spPr>
          <a:xfrm>
            <a:off x="12000085" y="6453784"/>
            <a:ext cx="994564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Raj</a:t>
            </a:r>
          </a:p>
        </p:txBody>
      </p:sp>
      <p:sp>
        <p:nvSpPr>
          <p:cNvPr id="184" name="Ankit"/>
          <p:cNvSpPr txBox="1"/>
          <p:nvPr/>
        </p:nvSpPr>
        <p:spPr>
          <a:xfrm>
            <a:off x="11751368" y="9726288"/>
            <a:ext cx="1491997" cy="808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Ankit</a:t>
            </a:r>
          </a:p>
        </p:txBody>
      </p:sp>
      <p:pic>
        <p:nvPicPr>
          <p:cNvPr id="185" name="Flow Flow" descr="Flow Flow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439844" y="319092"/>
            <a:ext cx="3993521" cy="1955597"/>
          </a:xfrm>
          <a:prstGeom prst="rect">
            <a:avLst/>
          </a:prstGeom>
          <a:effectLst>
            <a:outerShdw sx="100000" sy="100000" kx="0" ky="0" algn="b" rotWithShape="0" blurRad="381000" dist="114300" dir="0">
              <a:srgbClr val="000000">
                <a:alpha val="75000"/>
              </a:srgbClr>
            </a:outerShdw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Motivation"/>
          <p:cNvGrpSpPr/>
          <p:nvPr/>
        </p:nvGrpSpPr>
        <p:grpSpPr>
          <a:xfrm>
            <a:off x="7720424" y="402882"/>
            <a:ext cx="8943152" cy="1526889"/>
            <a:chOff x="0" y="0"/>
            <a:chExt cx="8943151" cy="1526888"/>
          </a:xfrm>
        </p:grpSpPr>
        <p:sp>
          <p:nvSpPr>
            <p:cNvPr id="188" name="Motivation"/>
            <p:cNvSpPr/>
            <p:nvPr/>
          </p:nvSpPr>
          <p:spPr>
            <a:xfrm>
              <a:off x="38100" y="38100"/>
              <a:ext cx="8866952" cy="1450689"/>
            </a:xfrm>
            <a:prstGeom prst="roundRect">
              <a:avLst>
                <a:gd name="adj" fmla="val 26838"/>
              </a:avLst>
            </a:prstGeom>
            <a:solidFill>
              <a:schemeClr val="accent2">
                <a:hueOff val="-85258"/>
                <a:satOff val="14347"/>
                <a:lumOff val="22373"/>
              </a:schemeClr>
            </a:solidFill>
            <a:ln>
              <a:noFill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algn="ctr">
                <a:lnSpc>
                  <a:spcPct val="80000"/>
                </a:lnSpc>
                <a:spcBef>
                  <a:spcPts val="0"/>
                </a:spcBef>
                <a:defRPr spc="-119" sz="6000"/>
              </a:lvl1pPr>
            </a:lstStyle>
            <a:p>
              <a:pPr/>
              <a:r>
                <a:t>Motivation</a:t>
              </a:r>
            </a:p>
          </p:txBody>
        </p:sp>
        <p:pic>
          <p:nvPicPr>
            <p:cNvPr id="187" name="Motivation Motivation" descr="Motivation Motivation"/>
            <p:cNvPicPr>
              <a:picLocks noChangeAspect="0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0" y="0"/>
              <a:ext cx="8943152" cy="1526889"/>
            </a:xfrm>
            <a:prstGeom prst="rect">
              <a:avLst/>
            </a:prstGeom>
            <a:effectLst/>
          </p:spPr>
        </p:pic>
      </p:grpSp>
      <p:sp>
        <p:nvSpPr>
          <p:cNvPr id="190" name="N. Bohr(1920s) —&gt; wave &amp; particle behaviour can’t be observed in the same setup.…"/>
          <p:cNvSpPr txBox="1"/>
          <p:nvPr/>
        </p:nvSpPr>
        <p:spPr>
          <a:xfrm>
            <a:off x="1066596" y="3358187"/>
            <a:ext cx="22263507" cy="5720000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/>
            <a:r>
              <a:t>N. Bohr</a:t>
            </a:r>
            <a:r>
              <a:rPr sz="3100"/>
              <a:t>(1920s) —</a:t>
            </a:r>
            <a:r>
              <a:t>&gt; wave &amp; particle behaviour can’t be observed in the same setup.</a:t>
            </a:r>
          </a:p>
          <a:p>
            <a:pPr/>
            <a:r>
              <a:t>   Scully &amp; Druhl</a:t>
            </a:r>
            <a:r>
              <a:rPr sz="3100"/>
              <a:t>(1982)</a:t>
            </a:r>
            <a:r>
              <a:t>—&gt; using entangled photons they proved this wrong.</a:t>
            </a:r>
          </a:p>
          <a:p>
            <a:pPr/>
            <a:r>
              <a:t>   Kim et al.</a:t>
            </a:r>
            <a:r>
              <a:rPr sz="3100"/>
              <a:t>(1999)</a:t>
            </a:r>
            <a:r>
              <a:t>—&gt; Experimental realisation of Scully’s proposal</a:t>
            </a:r>
          </a:p>
          <a:p>
            <a:pPr lvl="8"/>
            <a:r>
              <a:t>                                      +</a:t>
            </a:r>
          </a:p>
          <a:p>
            <a:pPr lvl="8"/>
            <a:r>
              <a:t>          Modifying further by introducing delayed choice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4" name="The Experimental Setup"/>
          <p:cNvGrpSpPr/>
          <p:nvPr/>
        </p:nvGrpSpPr>
        <p:grpSpPr>
          <a:xfrm>
            <a:off x="6719096" y="308095"/>
            <a:ext cx="10945808" cy="1641670"/>
            <a:chOff x="0" y="0"/>
            <a:chExt cx="10945807" cy="1641669"/>
          </a:xfrm>
        </p:grpSpPr>
        <p:sp>
          <p:nvSpPr>
            <p:cNvPr id="193" name="The Experimental Setup"/>
            <p:cNvSpPr/>
            <p:nvPr/>
          </p:nvSpPr>
          <p:spPr>
            <a:xfrm>
              <a:off x="38100" y="38100"/>
              <a:ext cx="10869608" cy="1565470"/>
            </a:xfrm>
            <a:prstGeom prst="roundRect">
              <a:avLst>
                <a:gd name="adj" fmla="val 21218"/>
              </a:avLst>
            </a:prstGeom>
            <a:solidFill>
              <a:schemeClr val="accent2">
                <a:hueOff val="-85258"/>
                <a:satOff val="14347"/>
                <a:lumOff val="22373"/>
              </a:schemeClr>
            </a:solidFill>
            <a:ln>
              <a:noFill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 lvl="1" algn="ctr" defTabSz="825500">
                <a:lnSpc>
                  <a:spcPct val="100000"/>
                </a:lnSpc>
                <a:spcBef>
                  <a:spcPts val="0"/>
                </a:spcBef>
                <a:defRPr sz="6000"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r>
                <a:t>The Experimental Setup</a:t>
              </a:r>
            </a:p>
          </p:txBody>
        </p:sp>
        <p:pic>
          <p:nvPicPr>
            <p:cNvPr id="192" name="The Experimental Setup The Experimental Setup" descr="The Experimental Setup The Experimental Setup"/>
            <p:cNvPicPr>
              <a:picLocks noChangeAspect="0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0" y="0"/>
              <a:ext cx="10945808" cy="1641670"/>
            </a:xfrm>
            <a:prstGeom prst="rect">
              <a:avLst/>
            </a:prstGeom>
            <a:effectLst/>
          </p:spPr>
        </p:pic>
      </p:grpSp>
      <p:pic>
        <p:nvPicPr>
          <p:cNvPr id="195" name="Screenshot 2025-05-03 at 12.03.25 AM.png" descr="Screenshot 2025-05-03 at 12.03.25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472852" y="2464443"/>
            <a:ext cx="14486445" cy="10825531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351 nm pump…"/>
          <p:cNvSpPr txBox="1"/>
          <p:nvPr/>
        </p:nvSpPr>
        <p:spPr>
          <a:xfrm>
            <a:off x="1943902" y="5644430"/>
            <a:ext cx="2487169" cy="10053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defRPr sz="3000">
                <a:solidFill>
                  <a:srgbClr val="5E5E5E"/>
                </a:solidFill>
              </a:defRPr>
            </a:pPr>
            <a:r>
              <a:t>351 nm pump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defRPr sz="3000">
                <a:solidFill>
                  <a:srgbClr val="5E5E5E"/>
                </a:solidFill>
              </a:defRPr>
            </a:pPr>
            <a:r>
              <a:t>photon beam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Calculation"/>
          <p:cNvGrpSpPr/>
          <p:nvPr/>
        </p:nvGrpSpPr>
        <p:grpSpPr>
          <a:xfrm>
            <a:off x="8690141" y="450276"/>
            <a:ext cx="7003718" cy="2094501"/>
            <a:chOff x="0" y="0"/>
            <a:chExt cx="7003716" cy="2094500"/>
          </a:xfrm>
        </p:grpSpPr>
        <p:sp>
          <p:nvSpPr>
            <p:cNvPr id="199" name="Calculation"/>
            <p:cNvSpPr/>
            <p:nvPr/>
          </p:nvSpPr>
          <p:spPr>
            <a:xfrm>
              <a:off x="38100" y="38100"/>
              <a:ext cx="6927517" cy="2018301"/>
            </a:xfrm>
            <a:prstGeom prst="roundRect">
              <a:avLst>
                <a:gd name="adj" fmla="val 22184"/>
              </a:avLst>
            </a:prstGeom>
            <a:solidFill>
              <a:schemeClr val="accent2">
                <a:hueOff val="-85258"/>
                <a:satOff val="14347"/>
                <a:lumOff val="22373"/>
              </a:schemeClr>
            </a:solidFill>
            <a:ln>
              <a:noFill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algn="ctr" defTabSz="825500">
                <a:lnSpc>
                  <a:spcPct val="100000"/>
                </a:lnSpc>
                <a:spcBef>
                  <a:spcPts val="0"/>
                </a:spcBef>
                <a:defRPr sz="6000"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Calculation</a:t>
              </a:r>
            </a:p>
          </p:txBody>
        </p:sp>
        <p:pic>
          <p:nvPicPr>
            <p:cNvPr id="198" name="Calculation Calculation" descr="Calculation Calculation"/>
            <p:cNvPicPr>
              <a:picLocks noChangeAspect="0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0" y="0"/>
              <a:ext cx="7003717" cy="2094501"/>
            </a:xfrm>
            <a:prstGeom prst="rect">
              <a:avLst/>
            </a:prstGeom>
            <a:effectLst/>
          </p:spPr>
        </p:pic>
      </p:grpSp>
      <p:pic>
        <p:nvPicPr>
          <p:cNvPr id="201" name="Screenshot 2025-05-03 at 3.32.15 AM.png" descr="Screenshot 2025-05-03 at 3.32.15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23279" y="3326924"/>
            <a:ext cx="9533520" cy="217705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2" name="Screenshot 2025-05-03 at 12.03.25 AM.png" descr="Screenshot 2025-05-03 at 12.03.25 AM.png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242128" y="2820767"/>
            <a:ext cx="10710556" cy="8074466"/>
          </a:xfrm>
          <a:prstGeom prst="rect">
            <a:avLst/>
          </a:prstGeom>
          <a:effectLst>
            <a:outerShdw sx="100000" sy="100000" kx="0" ky="0" algn="b" rotWithShape="0" blurRad="381000" dist="114300" dir="0">
              <a:srgbClr val="000000">
                <a:alpha val="75000"/>
              </a:srgbClr>
            </a:outerShdw>
          </a:effectLst>
        </p:spPr>
      </p:pic>
      <p:pic>
        <p:nvPicPr>
          <p:cNvPr id="203" name="Screenshot 2025-05-03 at 3.33.00 AM.png" descr="Screenshot 2025-05-03 at 3.33.00 AM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06666" y="5567650"/>
            <a:ext cx="7685737" cy="210738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" name="Screenshot 2025-05-03 at 3.33.32 AM.png" descr="Screenshot 2025-05-03 at 3.33.32 AM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481861" y="8046392"/>
            <a:ext cx="11414126" cy="396618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Screenshot 2025-05-03 at 3.34.47 AM.png" descr="Screenshot 2025-05-03 at 3.34.47 A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68441" y="702240"/>
            <a:ext cx="8392175" cy="1565706"/>
          </a:xfrm>
          <a:prstGeom prst="rect">
            <a:avLst/>
          </a:prstGeom>
          <a:ln w="12700">
            <a:miter lim="400000"/>
          </a:ln>
        </p:spPr>
      </p:pic>
      <p:pic>
        <p:nvPicPr>
          <p:cNvPr id="207" name="Screenshot 2025-05-03 at 3.35.58 AM.png" descr="Screenshot 2025-05-03 at 3.35.58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315268" y="2477887"/>
            <a:ext cx="9664048" cy="630016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Screenshot 2025-05-03 at 3.37.08 AM.png" descr="Screenshot 2025-05-03 at 3.37.08 AM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96847" y="8776373"/>
            <a:ext cx="10650119" cy="426339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9" name="Screenshot 2025-05-03 at 12.03.25 AM.png" descr="Screenshot 2025-05-03 at 12.03.25 AM.png"/>
          <p:cNvPicPr>
            <a:picLocks noChangeAspect="0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3242128" y="2820767"/>
            <a:ext cx="10710556" cy="8074466"/>
          </a:xfrm>
          <a:prstGeom prst="rect">
            <a:avLst/>
          </a:prstGeom>
          <a:effectLst>
            <a:outerShdw sx="100000" sy="100000" kx="0" ky="0" algn="b" rotWithShape="0" blurRad="381000" dist="114300" dir="0">
              <a:srgbClr val="000000">
                <a:alpha val="75000"/>
              </a:srgbClr>
            </a:outerShdw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Screenshot 2025-05-03 at 3.42.58 AM.png" descr="Screenshot 2025-05-03 at 3.42.58 A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610519" y="7008385"/>
            <a:ext cx="8921189" cy="660323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2" name="Screenshot 2025-05-03 at 3.44.26 AM.png" descr="Screenshot 2025-05-03 at 3.44.26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59362" y="7000202"/>
            <a:ext cx="8921189" cy="6619604"/>
          </a:xfrm>
          <a:prstGeom prst="rect">
            <a:avLst/>
          </a:prstGeom>
          <a:ln w="12700">
            <a:miter lim="400000"/>
          </a:ln>
        </p:spPr>
      </p:pic>
      <p:pic>
        <p:nvPicPr>
          <p:cNvPr id="213" name="Screenshot 2025-05-03 at 12.03.25 AM.png" descr="Screenshot 2025-05-03 at 12.03.25 AM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5895330" y="-49026"/>
            <a:ext cx="7514809" cy="561571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4" name="Image" descr="Image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9875" y="4481740"/>
            <a:ext cx="6537463" cy="1245394"/>
          </a:xfrm>
          <a:prstGeom prst="rect">
            <a:avLst/>
          </a:prstGeom>
          <a:ln w="12700">
            <a:miter lim="400000"/>
          </a:ln>
        </p:spPr>
      </p:pic>
      <p:pic>
        <p:nvPicPr>
          <p:cNvPr id="215" name="Image" descr="Image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0890100" y="5726580"/>
            <a:ext cx="8862330" cy="1270079"/>
          </a:xfrm>
          <a:prstGeom prst="rect">
            <a:avLst/>
          </a:prstGeom>
          <a:ln w="12700">
            <a:miter lim="400000"/>
          </a:ln>
        </p:spPr>
      </p:pic>
      <p:pic>
        <p:nvPicPr>
          <p:cNvPr id="216" name="Image" descr="Image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813252" y="920582"/>
            <a:ext cx="9564472" cy="548944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9569" y="757146"/>
            <a:ext cx="10520979" cy="384777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9" name="Image" descr="Ima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84876" y="5205243"/>
            <a:ext cx="7148710" cy="1224066"/>
          </a:xfrm>
          <a:prstGeom prst="rect">
            <a:avLst/>
          </a:prstGeom>
          <a:ln w="12700">
            <a:miter lim="400000"/>
          </a:ln>
        </p:spPr>
      </p:pic>
      <p:pic>
        <p:nvPicPr>
          <p:cNvPr id="220" name="Image" descr="Imag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250624" y="970790"/>
            <a:ext cx="10273829" cy="9033140"/>
          </a:xfrm>
          <a:prstGeom prst="rect">
            <a:avLst/>
          </a:prstGeom>
          <a:ln w="12700">
            <a:miter lim="400000"/>
          </a:ln>
        </p:spPr>
      </p:pic>
      <p:pic>
        <p:nvPicPr>
          <p:cNvPr id="221" name="Screenshot 2025-05-03 at 12.03.25 AM.png" descr="Screenshot 2025-05-03 at 12.03.25 AM.png"/>
          <p:cNvPicPr>
            <a:picLocks noChangeAspect="0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00622" y="6889928"/>
            <a:ext cx="8436354" cy="6374985"/>
          </a:xfrm>
          <a:prstGeom prst="rect">
            <a:avLst/>
          </a:prstGeom>
          <a:effectLst>
            <a:outerShdw sx="100000" sy="100000" kx="0" ky="0" algn="b" rotWithShape="0" blurRad="381000" dist="114300" dir="0">
              <a:srgbClr val="000000">
                <a:alpha val="75000"/>
              </a:srgbClr>
            </a:outerShdw>
          </a:effectLst>
        </p:spPr>
      </p:pic>
      <p:pic>
        <p:nvPicPr>
          <p:cNvPr id="222" name="Image" descr="Image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4250624" y="10225083"/>
            <a:ext cx="10273829" cy="14461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Results"/>
          <p:cNvSpPr/>
          <p:nvPr/>
        </p:nvSpPr>
        <p:spPr>
          <a:xfrm>
            <a:off x="9447244" y="606860"/>
            <a:ext cx="5648447" cy="1957485"/>
          </a:xfrm>
          <a:prstGeom prst="roundRect">
            <a:avLst>
              <a:gd name="adj" fmla="val 19132"/>
            </a:avLst>
          </a:prstGeom>
          <a:solidFill>
            <a:schemeClr val="accent2">
              <a:hueOff val="-85258"/>
              <a:satOff val="14347"/>
              <a:lumOff val="22373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60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Results</a:t>
            </a:r>
          </a:p>
        </p:txBody>
      </p:sp>
      <p:pic>
        <p:nvPicPr>
          <p:cNvPr id="225" name="fig2.png" descr="fig2.png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118648" y="2950929"/>
            <a:ext cx="14146704" cy="10396872"/>
          </a:xfrm>
          <a:prstGeom prst="rect">
            <a:avLst/>
          </a:prstGeom>
          <a:effectLst>
            <a:outerShdw sx="100000" sy="100000" kx="0" ky="0" algn="b" rotWithShape="0" blurRad="381000" dist="114300" dir="0">
              <a:srgbClr val="000000">
                <a:alpha val="75000"/>
              </a:srgbClr>
            </a:outerShdw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fig3.png" descr="fig3.png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4806" y="1885761"/>
            <a:ext cx="11678878" cy="8540714"/>
          </a:xfrm>
          <a:prstGeom prst="rect">
            <a:avLst/>
          </a:prstGeom>
          <a:effectLst>
            <a:outerShdw sx="100000" sy="100000" kx="0" ky="0" algn="b" rotWithShape="0" blurRad="381000" dist="114300" dir="0">
              <a:srgbClr val="000000">
                <a:alpha val="75000"/>
              </a:srgbClr>
            </a:outerShdw>
          </a:effectLst>
        </p:spPr>
      </p:pic>
      <p:pic>
        <p:nvPicPr>
          <p:cNvPr id="228" name="fig4.png" descr="fig4.png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425275" y="2035533"/>
            <a:ext cx="11378723" cy="8241170"/>
          </a:xfrm>
          <a:prstGeom prst="rect">
            <a:avLst/>
          </a:prstGeom>
          <a:effectLst>
            <a:outerShdw sx="100000" sy="100000" kx="0" ky="0" algn="b" rotWithShape="0" blurRad="381000" dist="114300" dir="0">
              <a:srgbClr val="000000">
                <a:alpha val="75000"/>
              </a:srgbClr>
            </a:outerShdw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onclusion"/>
          <p:cNvSpPr/>
          <p:nvPr/>
        </p:nvSpPr>
        <p:spPr>
          <a:xfrm>
            <a:off x="8995802" y="583163"/>
            <a:ext cx="6392396" cy="1903242"/>
          </a:xfrm>
          <a:prstGeom prst="roundRect">
            <a:avLst>
              <a:gd name="adj" fmla="val 15000"/>
            </a:avLst>
          </a:prstGeom>
          <a:solidFill>
            <a:schemeClr val="accent5">
              <a:hueOff val="-152895"/>
              <a:lumOff val="12368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60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231" name="The experimental results demonstrate the possibility of determining particle-like and wave-like behaviours of a photon via quantum entanglement."/>
          <p:cNvSpPr txBox="1"/>
          <p:nvPr/>
        </p:nvSpPr>
        <p:spPr>
          <a:xfrm>
            <a:off x="2737247" y="3581196"/>
            <a:ext cx="18909506" cy="1435101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  <a:effectLst>
            <a:outerShdw sx="100000" sy="100000" kx="0" ky="0" algn="b" rotWithShape="0" blurRad="381000" dist="114300" dir="0">
              <a:srgbClr val="000000">
                <a:alpha val="75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4300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The experimental results demonstrate the possibility of determining particle-like and wave-like behaviours of a photon via quantum entanglement.</a:t>
            </a:r>
          </a:p>
        </p:txBody>
      </p:sp>
      <p:pic>
        <p:nvPicPr>
          <p:cNvPr id="232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906929" y="6403129"/>
            <a:ext cx="12138106" cy="183529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